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D8"/>
    <a:srgbClr val="9D4EDD"/>
    <a:srgbClr val="FF006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1075" y="-14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29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9D4ED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THERMOELECTRIC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6B3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EFFECTS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457200" y="318246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of Energy Conversion between Heat &amp; Electricity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587DA-7F9B-549B-178E-024B9F2E8CEE}"/>
              </a:ext>
            </a:extLst>
          </p:cNvPr>
          <p:cNvSpPr txBox="1"/>
          <p:nvPr/>
        </p:nvSpPr>
        <p:spPr>
          <a:xfrm>
            <a:off x="2189527" y="3639669"/>
            <a:ext cx="47481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Ehatasham Haque,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Assistant (RA) to Dr. Nafisa Noor (NaNr)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South University, Dhaka.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1158241"/>
          </a:xfrm>
          <a:prstGeom prst="rect">
            <a:avLst/>
          </a:prstGeom>
          <a:solidFill>
            <a:srgbClr val="FF6B35"/>
          </a:solidFill>
          <a:ln/>
        </p:spPr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858847-E84D-251E-9DF0-E9AB190EA7EB}"/>
              </a:ext>
            </a:extLst>
          </p:cNvPr>
          <p:cNvGrpSpPr/>
          <p:nvPr/>
        </p:nvGrpSpPr>
        <p:grpSpPr>
          <a:xfrm>
            <a:off x="457200" y="350519"/>
            <a:ext cx="8229600" cy="457200"/>
            <a:chOff x="457200" y="228600"/>
            <a:chExt cx="8229600" cy="457200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28600"/>
              <a:ext cx="457200" cy="45720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97280" y="228600"/>
              <a:ext cx="7589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What Are Thermoelectric Effects?</a:t>
              </a:r>
              <a:endParaRPr lang="en-US" sz="4000" dirty="0"/>
            </a:p>
          </p:txBody>
        </p:sp>
      </p:grpSp>
      <p:pic>
        <p:nvPicPr>
          <p:cNvPr id="10" name="Picture 9" descr="A close-up of a white square&#10;&#10;AI-generated content may be incorrect.">
            <a:extLst>
              <a:ext uri="{FF2B5EF4-FFF2-40B4-BE49-F238E27FC236}">
                <a16:creationId xmlns:a16="http://schemas.microsoft.com/office/drawing/2014/main" id="{7E1EA42E-0DEE-A15D-E629-FE3803FF6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" y="1642461"/>
            <a:ext cx="4941570" cy="2830255"/>
          </a:xfrm>
          <a:prstGeom prst="rect">
            <a:avLst/>
          </a:prstGeom>
        </p:spPr>
      </p:pic>
      <p:pic>
        <p:nvPicPr>
          <p:cNvPr id="12" name="Picture 11" descr="Diagram of a solar panel diagram&#10;&#10;AI-generated content may be incorrect.">
            <a:extLst>
              <a:ext uri="{FF2B5EF4-FFF2-40B4-BE49-F238E27FC236}">
                <a16:creationId xmlns:a16="http://schemas.microsoft.com/office/drawing/2014/main" id="{08BEBCC3-B787-9880-BD66-F5F7D4247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9334" y="1642461"/>
            <a:ext cx="3429000" cy="27903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8132CC-AB14-013D-457F-608C034F0CFA}"/>
              </a:ext>
            </a:extLst>
          </p:cNvPr>
          <p:cNvSpPr txBox="1"/>
          <p:nvPr/>
        </p:nvSpPr>
        <p:spPr>
          <a:xfrm>
            <a:off x="5663529" y="4495272"/>
            <a:ext cx="3068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Thermoelectric Generator Diagram. </a:t>
            </a:r>
          </a:p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www.topmagneticgenerator.com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16854-101B-0F20-2F2B-B88A9F3236A1}"/>
              </a:ext>
            </a:extLst>
          </p:cNvPr>
          <p:cNvSpPr txBox="1"/>
          <p:nvPr/>
        </p:nvSpPr>
        <p:spPr>
          <a:xfrm>
            <a:off x="751182" y="4495272"/>
            <a:ext cx="356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Micro Thermoelectric Generator (μTEG). </a:t>
            </a:r>
          </a:p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www.electronicsweekly.com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952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36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Three Thermoelectric Effects</a:t>
            </a:r>
            <a:endParaRPr lang="en-US" sz="40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1FAE2E6-9D18-1F61-5FC0-DB1DEFDDFC58}"/>
              </a:ext>
            </a:extLst>
          </p:cNvPr>
          <p:cNvGrpSpPr/>
          <p:nvPr/>
        </p:nvGrpSpPr>
        <p:grpSpPr>
          <a:xfrm>
            <a:off x="457200" y="1422400"/>
            <a:ext cx="8229600" cy="3474720"/>
            <a:chOff x="457200" y="1371600"/>
            <a:chExt cx="8229600" cy="3474720"/>
          </a:xfrm>
        </p:grpSpPr>
        <p:sp>
          <p:nvSpPr>
            <p:cNvPr id="4" name="Shape 2"/>
            <p:cNvSpPr/>
            <p:nvPr/>
          </p:nvSpPr>
          <p:spPr>
            <a:xfrm>
              <a:off x="457200" y="1371600"/>
              <a:ext cx="2651760" cy="3474720"/>
            </a:xfrm>
            <a:prstGeom prst="rect">
              <a:avLst/>
            </a:prstGeom>
            <a:solidFill>
              <a:srgbClr val="FFFFFF"/>
            </a:solidFill>
            <a:ln w="50800">
              <a:solidFill>
                <a:srgbClr val="F7931E"/>
              </a:solidFill>
              <a:prstDash val="solid"/>
            </a:ln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457200" y="1371600"/>
              <a:ext cx="2651760" cy="548640"/>
            </a:xfrm>
            <a:prstGeom prst="rect">
              <a:avLst/>
            </a:prstGeom>
            <a:solidFill>
              <a:srgbClr val="F7931E"/>
            </a:solidFill>
            <a:ln/>
          </p:spPr>
        </p:sp>
        <p:sp>
          <p:nvSpPr>
            <p:cNvPr id="11" name="Shape 8"/>
            <p:cNvSpPr/>
            <p:nvPr/>
          </p:nvSpPr>
          <p:spPr>
            <a:xfrm>
              <a:off x="3246120" y="1371600"/>
              <a:ext cx="2651760" cy="3474720"/>
            </a:xfrm>
            <a:prstGeom prst="rect">
              <a:avLst/>
            </a:prstGeom>
            <a:solidFill>
              <a:srgbClr val="FFFFFF"/>
            </a:solidFill>
            <a:ln w="50800">
              <a:solidFill>
                <a:srgbClr val="00B4D8"/>
              </a:solidFill>
              <a:prstDash val="solid"/>
            </a:ln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2" name="Shape 9"/>
            <p:cNvSpPr/>
            <p:nvPr/>
          </p:nvSpPr>
          <p:spPr>
            <a:xfrm>
              <a:off x="3246120" y="1371600"/>
              <a:ext cx="2651760" cy="548640"/>
            </a:xfrm>
            <a:prstGeom prst="rect">
              <a:avLst/>
            </a:prstGeom>
            <a:solidFill>
              <a:srgbClr val="00B4D8"/>
            </a:solidFill>
            <a:ln/>
          </p:spPr>
        </p:sp>
        <p:sp>
          <p:nvSpPr>
            <p:cNvPr id="18" name="Shape 14"/>
            <p:cNvSpPr/>
            <p:nvPr/>
          </p:nvSpPr>
          <p:spPr>
            <a:xfrm>
              <a:off x="6035040" y="1371600"/>
              <a:ext cx="2651760" cy="3474720"/>
            </a:xfrm>
            <a:prstGeom prst="rect">
              <a:avLst/>
            </a:prstGeom>
            <a:solidFill>
              <a:srgbClr val="FFFFFF"/>
            </a:solidFill>
            <a:ln w="50800">
              <a:solidFill>
                <a:srgbClr val="9D4EDD"/>
              </a:solidFill>
              <a:prstDash val="solid"/>
            </a:ln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9" name="Shape 15"/>
            <p:cNvSpPr/>
            <p:nvPr/>
          </p:nvSpPr>
          <p:spPr>
            <a:xfrm>
              <a:off x="6035040" y="1371600"/>
              <a:ext cx="2651760" cy="548640"/>
            </a:xfrm>
            <a:prstGeom prst="rect">
              <a:avLst/>
            </a:prstGeom>
            <a:solidFill>
              <a:srgbClr val="9D4EDD"/>
            </a:solidFill>
            <a:ln/>
          </p:spPr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AE5A775-9C51-F400-2204-6EA8CC35C93B}"/>
                </a:ext>
              </a:extLst>
            </p:cNvPr>
            <p:cNvGrpSpPr/>
            <p:nvPr/>
          </p:nvGrpSpPr>
          <p:grpSpPr>
            <a:xfrm>
              <a:off x="457200" y="1463040"/>
              <a:ext cx="8229600" cy="3200400"/>
              <a:chOff x="457200" y="1280160"/>
              <a:chExt cx="8229600" cy="3200400"/>
            </a:xfrm>
          </p:grpSpPr>
          <p:pic>
            <p:nvPicPr>
              <p:cNvPr id="6" name="Image 0" descr="preencoded.png"/>
              <p:cNvPicPr>
                <a:picLocks noChangeAspect="1"/>
              </p:cNvPicPr>
              <p:nvPr/>
            </p:nvPicPr>
            <p:blipFill>
              <a:blip r:embed="rId3">
                <a:biLevel thresh="50000"/>
              </a:blip>
              <a:stretch>
                <a:fillRect/>
              </a:stretch>
            </p:blipFill>
            <p:spPr>
              <a:xfrm>
                <a:off x="1371600" y="1280160"/>
                <a:ext cx="822960" cy="36576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7" name="Text 4"/>
              <p:cNvSpPr/>
              <p:nvPr/>
            </p:nvSpPr>
            <p:spPr>
              <a:xfrm>
                <a:off x="457200" y="1828800"/>
                <a:ext cx="2651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1A1A2E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SEEBECK</a:t>
                </a:r>
                <a:endParaRPr lang="en-US" sz="2400" dirty="0"/>
              </a:p>
            </p:txBody>
          </p:sp>
          <p:sp>
            <p:nvSpPr>
              <p:cNvPr id="8" name="Text 5"/>
              <p:cNvSpPr/>
              <p:nvPr/>
            </p:nvSpPr>
            <p:spPr>
              <a:xfrm>
                <a:off x="457200" y="2286000"/>
                <a:ext cx="2651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793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Heat → Electricity</a:t>
                </a:r>
                <a:endParaRPr lang="en-US" sz="1800" dirty="0"/>
              </a:p>
            </p:txBody>
          </p:sp>
          <p:sp>
            <p:nvSpPr>
              <p:cNvPr id="9" name="Text 6"/>
              <p:cNvSpPr/>
              <p:nvPr/>
            </p:nvSpPr>
            <p:spPr>
              <a:xfrm>
                <a:off x="548640" y="3017520"/>
                <a:ext cx="246888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1821</a:t>
                </a:r>
                <a:endParaRPr lang="en-US" sz="1400" dirty="0"/>
              </a:p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Thomas Seebeck</a:t>
                </a:r>
                <a:endParaRPr lang="en-US" sz="1400" dirty="0"/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548640" y="3931920"/>
                <a:ext cx="24688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i="1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Temperature difference creates voltage</a:t>
                </a:r>
                <a:endParaRPr lang="en-US" sz="1200" dirty="0"/>
              </a:p>
            </p:txBody>
          </p:sp>
          <p:pic>
            <p:nvPicPr>
              <p:cNvPr id="13" name="Image 1" descr="preencoded.png"/>
              <p:cNvPicPr>
                <a:picLocks noChangeAspect="1"/>
              </p:cNvPicPr>
              <p:nvPr/>
            </p:nvPicPr>
            <p:blipFill>
              <a:blip r:embed="rId4">
                <a:biLevel thresh="50000"/>
              </a:blip>
              <a:stretch>
                <a:fillRect/>
              </a:stretch>
            </p:blipFill>
            <p:spPr>
              <a:xfrm>
                <a:off x="4160520" y="1280160"/>
                <a:ext cx="822960" cy="365760"/>
              </a:xfrm>
              <a:prstGeom prst="rect">
                <a:avLst/>
              </a:prstGeom>
            </p:spPr>
          </p:pic>
          <p:sp>
            <p:nvSpPr>
              <p:cNvPr id="14" name="Text 10"/>
              <p:cNvSpPr/>
              <p:nvPr/>
            </p:nvSpPr>
            <p:spPr>
              <a:xfrm>
                <a:off x="3246120" y="1828800"/>
                <a:ext cx="2651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1A1A2E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PELTIER</a:t>
                </a:r>
                <a:endParaRPr lang="en-US" sz="2400" dirty="0"/>
              </a:p>
            </p:txBody>
          </p:sp>
          <p:sp>
            <p:nvSpPr>
              <p:cNvPr id="15" name="Text 11"/>
              <p:cNvSpPr/>
              <p:nvPr/>
            </p:nvSpPr>
            <p:spPr>
              <a:xfrm>
                <a:off x="3246120" y="2286000"/>
                <a:ext cx="2651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00B4D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Electricity → Cooling/Heating</a:t>
                </a:r>
                <a:endParaRPr lang="en-US" sz="1600" dirty="0"/>
              </a:p>
            </p:txBody>
          </p:sp>
          <p:sp>
            <p:nvSpPr>
              <p:cNvPr id="16" name="Text 12"/>
              <p:cNvSpPr/>
              <p:nvPr/>
            </p:nvSpPr>
            <p:spPr>
              <a:xfrm>
                <a:off x="3337560" y="3017520"/>
                <a:ext cx="246888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1834</a:t>
                </a:r>
                <a:endParaRPr lang="en-US" sz="1400" dirty="0"/>
              </a:p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Jean Peltier</a:t>
                </a:r>
                <a:endParaRPr lang="en-US" sz="1400" dirty="0"/>
              </a:p>
            </p:txBody>
          </p:sp>
          <p:sp>
            <p:nvSpPr>
              <p:cNvPr id="17" name="Text 13"/>
              <p:cNvSpPr/>
              <p:nvPr/>
            </p:nvSpPr>
            <p:spPr>
              <a:xfrm>
                <a:off x="3337560" y="3931920"/>
                <a:ext cx="24688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i="1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Current flow creates temperature difference</a:t>
                </a:r>
                <a:endParaRPr lang="en-US" sz="1200" dirty="0"/>
              </a:p>
            </p:txBody>
          </p:sp>
          <p:pic>
            <p:nvPicPr>
              <p:cNvPr id="20" name="Image 2" descr="preencoded.png"/>
              <p:cNvPicPr>
                <a:picLocks noChangeAspect="1"/>
              </p:cNvPicPr>
              <p:nvPr/>
            </p:nvPicPr>
            <p:blipFill>
              <a:blip r:embed="rId5">
                <a:biLevel thresh="50000"/>
              </a:blip>
              <a:stretch>
                <a:fillRect/>
              </a:stretch>
            </p:blipFill>
            <p:spPr>
              <a:xfrm>
                <a:off x="6949440" y="1280160"/>
                <a:ext cx="822960" cy="365760"/>
              </a:xfrm>
              <a:prstGeom prst="rect">
                <a:avLst/>
              </a:prstGeom>
            </p:spPr>
          </p:pic>
          <p:sp>
            <p:nvSpPr>
              <p:cNvPr id="21" name="Text 16"/>
              <p:cNvSpPr/>
              <p:nvPr/>
            </p:nvSpPr>
            <p:spPr>
              <a:xfrm>
                <a:off x="6035040" y="1828800"/>
                <a:ext cx="2651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1A1A2E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THOMSON</a:t>
                </a:r>
                <a:endParaRPr lang="en-US" sz="2400" dirty="0"/>
              </a:p>
            </p:txBody>
          </p:sp>
          <p:sp>
            <p:nvSpPr>
              <p:cNvPr id="22" name="Text 17"/>
              <p:cNvSpPr/>
              <p:nvPr/>
            </p:nvSpPr>
            <p:spPr>
              <a:xfrm>
                <a:off x="6035040" y="2286000"/>
                <a:ext cx="2651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9D4EDD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Unified Theory</a:t>
                </a:r>
                <a:endParaRPr lang="en-US" sz="1800" dirty="0"/>
              </a:p>
            </p:txBody>
          </p:sp>
          <p:sp>
            <p:nvSpPr>
              <p:cNvPr id="23" name="Text 18"/>
              <p:cNvSpPr/>
              <p:nvPr/>
            </p:nvSpPr>
            <p:spPr>
              <a:xfrm>
                <a:off x="6126480" y="2926080"/>
                <a:ext cx="2468880" cy="10058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1851</a:t>
                </a:r>
                <a:endParaRPr lang="en-US" sz="1400" dirty="0"/>
              </a:p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William Thomson</a:t>
                </a:r>
                <a:endParaRPr lang="en-US" sz="1400" dirty="0"/>
              </a:p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(Lord Kelvin)</a:t>
                </a:r>
                <a:endParaRPr lang="en-US" sz="1400" dirty="0"/>
              </a:p>
            </p:txBody>
          </p:sp>
          <p:sp>
            <p:nvSpPr>
              <p:cNvPr id="24" name="Text 19"/>
              <p:cNvSpPr/>
              <p:nvPr/>
            </p:nvSpPr>
            <p:spPr>
              <a:xfrm>
                <a:off x="6126480" y="3931920"/>
                <a:ext cx="24688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i="1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Connects all thermoelectric phenomena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931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SEEBECK EFFECT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8F9FA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93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Definition: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gradient directly converts into electricity. Two dissimilar conductors generate voltage when subjected to heat difference.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93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37490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3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2918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93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 = −α∇T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μV/K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097280"/>
            <a:ext cx="3840480" cy="34747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D3E9C7-484E-BE03-7950-36C88F496E19}"/>
              </a:ext>
            </a:extLst>
          </p:cNvPr>
          <p:cNvSpPr txBox="1"/>
          <p:nvPr/>
        </p:nvSpPr>
        <p:spPr>
          <a:xfrm>
            <a:off x="4892040" y="4592404"/>
            <a:ext cx="39820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generic setup diagram for Thermoelectric generator (TEG) showing Seebeck Effect in action.</a:t>
            </a:r>
          </a:p>
          <a:p>
            <a:r>
              <a:rPr lang="en-US" sz="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infused Image by Science ABC - Venkatesh Vaidyanathan.</a:t>
            </a:r>
            <a:endParaRPr lang="en-US" sz="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" y="3886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SEEBECK EFFECT: Real-World Applications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4114800" cy="548640"/>
          </a:xfrm>
          <a:prstGeom prst="rect">
            <a:avLst/>
          </a:prstGeom>
          <a:solidFill>
            <a:srgbClr val="F7931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233172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Thermocouples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Measurement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Industrial processes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Scientific research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Manufacturing quality control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accurate and reliable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15544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554480"/>
            <a:ext cx="4114800" cy="548640"/>
          </a:xfrm>
          <a:prstGeom prst="rect">
            <a:avLst/>
          </a:prstGeom>
          <a:solidFill>
            <a:srgbClr val="9D4ED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44652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Generation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75488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Thermoelectric Generators (TEGs)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54880" y="31089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NASA spacecraft (Voyager, Mars rovers)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Automotive waste heat recovery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Remote sensors &amp; IoT devices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Industrial heat recovery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PELTIER EFFECT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8F9FA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Definition: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creates heating or cooling at junctions. Heat absorbed at one junction, released at another - direction depends on current flow.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37490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2918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 = Π·I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W (Watts) for heat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(Volts) for coefficient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00B4D8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Historical Discovery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5029200" y="19202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in 1834 by French physicist Jean Charles Athanase Peltier.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found that electric current flowing through junctions of dissimilar metals either absorbed or released heat depending on current direction.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the inverse of Seebeck's discovery, unlocking thermoelectric cooling!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6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PELTIER EFFECT APPLICATIONS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B4D8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37160" cy="31089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Cooling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coolers, wine fridges, electronic component cooling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5176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9D4EDD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46120" y="1280160"/>
            <a:ext cx="137160" cy="3108960"/>
          </a:xfrm>
          <a:prstGeom prst="rect">
            <a:avLst/>
          </a:prstGeom>
          <a:solidFill>
            <a:srgbClr val="9D4ED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5544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429000" y="29260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 in manufacturing, lab equipment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65176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F7931E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35040" y="1280160"/>
            <a:ext cx="137160" cy="3108960"/>
          </a:xfrm>
          <a:prstGeom prst="rect">
            <a:avLst/>
          </a:prstGeom>
          <a:solidFill>
            <a:srgbClr val="F7931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55448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Medical &amp;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Scientific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217920" y="29260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machines, medical refrigeration, precision instruments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9D4E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696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THOMSON EFFECT - The Unifying Theory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Definition: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or cooling of a current-carrying conductor with a temperature gradient. Heat absorbed or released throughout the conductor, beyond Joule heating.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31520" y="3566160"/>
            <a:ext cx="3657600" cy="640080"/>
          </a:xfrm>
          <a:prstGeom prst="rect">
            <a:avLst/>
          </a:prstGeom>
          <a:solidFill>
            <a:srgbClr val="F8F9FA"/>
          </a:solidFill>
          <a:ln w="25400">
            <a:solidFill>
              <a:srgbClr val="9D4E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566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D4E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 = −K·J·∇T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V/K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737360"/>
            <a:ext cx="3657600" cy="283464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KELVIN RELATIONS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937760" y="25603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Thomson (Lord Kelvin) unified all three effects in 1851.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proved that Seebeck, Peltier, and Thomson coefficients are interconnected through thermodynamic principles.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completed the theoretical framework of thermoelectricity!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42DFAE-8B19-9608-6202-5BEF2FC6D89E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338EC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B2039AE-1FF6-4527-5BBD-1ECBE2507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457200" cy="4572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BB5F66F-10E0-1B73-D741-6A0A02511CFD}"/>
              </a:ext>
            </a:extLst>
          </p:cNvPr>
          <p:cNvSpPr/>
          <p:nvPr/>
        </p:nvSpPr>
        <p:spPr>
          <a:xfrm>
            <a:off x="1097280" y="3429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Thermoelectric Heat Balance</a:t>
            </a:r>
            <a:endParaRPr lang="en-US" sz="4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2843F5D-D440-D1EF-43DC-8C41AE25F8DA}"/>
              </a:ext>
            </a:extLst>
          </p:cNvPr>
          <p:cNvSpPr/>
          <p:nvPr/>
        </p:nvSpPr>
        <p:spPr>
          <a:xfrm>
            <a:off x="457200" y="1211580"/>
            <a:ext cx="8229600" cy="914400"/>
          </a:xfrm>
          <a:prstGeom prst="rect">
            <a:avLst/>
          </a:prstGeom>
          <a:solidFill>
            <a:srgbClr val="1A1A2E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FF1F3B7-CAB3-9202-B356-056A4B0BECE3}"/>
              </a:ext>
            </a:extLst>
          </p:cNvPr>
          <p:cNvSpPr/>
          <p:nvPr/>
        </p:nvSpPr>
        <p:spPr>
          <a:xfrm>
            <a:off x="457200" y="1257300"/>
            <a:ext cx="8229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ρJ²  +  αJ∇T  +  τJ(dT/dx)  −  κ(d²T/dx²)</a:t>
            </a:r>
            <a:endParaRPr lang="en-US" sz="25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96EDC7C-AF45-98DE-0C2F-9FC6EAB10D25}"/>
              </a:ext>
            </a:extLst>
          </p:cNvPr>
          <p:cNvSpPr/>
          <p:nvPr/>
        </p:nvSpPr>
        <p:spPr>
          <a:xfrm>
            <a:off x="457200" y="2286000"/>
            <a:ext cx="3931920" cy="1280160"/>
          </a:xfrm>
          <a:prstGeom prst="rect">
            <a:avLst/>
          </a:prstGeom>
          <a:solidFill>
            <a:srgbClr val="FFFFFF"/>
          </a:solidFill>
          <a:ln w="50800">
            <a:solidFill>
              <a:srgbClr val="F7931E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2C488B7-C8B8-AD54-09D3-8D73DE8D39D2}"/>
              </a:ext>
            </a:extLst>
          </p:cNvPr>
          <p:cNvSpPr/>
          <p:nvPr/>
        </p:nvSpPr>
        <p:spPr>
          <a:xfrm>
            <a:off x="457200" y="2286000"/>
            <a:ext cx="137160" cy="1280160"/>
          </a:xfrm>
          <a:prstGeom prst="rect">
            <a:avLst/>
          </a:prstGeom>
          <a:solidFill>
            <a:srgbClr val="F7931E"/>
          </a:solidFill>
          <a:ln/>
        </p:spPr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807F6B9F-0D3F-1926-8F54-C351377AA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23160"/>
            <a:ext cx="457200" cy="45720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757367EB-AE8F-5D1B-1DF4-F806FB66404B}"/>
              </a:ext>
            </a:extLst>
          </p:cNvPr>
          <p:cNvSpPr/>
          <p:nvPr/>
        </p:nvSpPr>
        <p:spPr>
          <a:xfrm>
            <a:off x="123444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JOULE HEATING</a:t>
            </a:r>
            <a:endParaRPr lang="en-US" sz="1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DD68646-3AB5-DBDC-78B6-CEFECBEB6781}"/>
              </a:ext>
            </a:extLst>
          </p:cNvPr>
          <p:cNvSpPr/>
          <p:nvPr/>
        </p:nvSpPr>
        <p:spPr>
          <a:xfrm>
            <a:off x="1234440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3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ρJ²  or  I²R</a:t>
            </a:r>
            <a:endParaRPr lang="en-US" sz="16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16A22FA-61EE-7E94-CE73-B9FA653550C3}"/>
              </a:ext>
            </a:extLst>
          </p:cNvPr>
          <p:cNvSpPr/>
          <p:nvPr/>
        </p:nvSpPr>
        <p:spPr>
          <a:xfrm>
            <a:off x="685800" y="31089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Resistive losses (always positive)</a:t>
            </a:r>
            <a:endParaRPr lang="en-US"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F923D9D-3A2B-26C6-9FA8-682EC35F47C5}"/>
              </a:ext>
            </a:extLst>
          </p:cNvPr>
          <p:cNvSpPr/>
          <p:nvPr/>
        </p:nvSpPr>
        <p:spPr>
          <a:xfrm>
            <a:off x="4754880" y="2286000"/>
            <a:ext cx="3931920" cy="1280160"/>
          </a:xfrm>
          <a:prstGeom prst="rect">
            <a:avLst/>
          </a:prstGeom>
          <a:solidFill>
            <a:srgbClr val="FFFFFF"/>
          </a:solidFill>
          <a:ln w="50800">
            <a:solidFill>
              <a:srgbClr val="00B4D8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FE55CF0-B73E-34A9-060D-6F493DB05102}"/>
              </a:ext>
            </a:extLst>
          </p:cNvPr>
          <p:cNvSpPr/>
          <p:nvPr/>
        </p:nvSpPr>
        <p:spPr>
          <a:xfrm>
            <a:off x="4754880" y="2286000"/>
            <a:ext cx="137160" cy="12801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CE75D90F-A623-6640-0ED3-43B4CC186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423160"/>
            <a:ext cx="457200" cy="45720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E3DE0949-1B06-CA28-609B-4110ABA2AE61}"/>
              </a:ext>
            </a:extLst>
          </p:cNvPr>
          <p:cNvSpPr/>
          <p:nvPr/>
        </p:nvSpPr>
        <p:spPr>
          <a:xfrm>
            <a:off x="553212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PELTIER EFFECT</a:t>
            </a:r>
            <a:endParaRPr lang="en-US" sz="18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762AC61-E956-B713-D85F-9C13AAA49370}"/>
              </a:ext>
            </a:extLst>
          </p:cNvPr>
          <p:cNvSpPr/>
          <p:nvPr/>
        </p:nvSpPr>
        <p:spPr>
          <a:xfrm>
            <a:off x="5532120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ΠI  or  αTJ</a:t>
            </a:r>
            <a:endParaRPr lang="en-US" sz="16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24E5BD0-6936-77E4-44CC-9C73E4B98C80}"/>
              </a:ext>
            </a:extLst>
          </p:cNvPr>
          <p:cNvSpPr/>
          <p:nvPr/>
        </p:nvSpPr>
        <p:spPr>
          <a:xfrm>
            <a:off x="4983480" y="31089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at junctions (± reversible)</a:t>
            </a:r>
            <a:endParaRPr lang="en-US" sz="12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2A292E5-D4BA-2C47-D5D7-D9673247182B}"/>
              </a:ext>
            </a:extLst>
          </p:cNvPr>
          <p:cNvGrpSpPr/>
          <p:nvPr/>
        </p:nvGrpSpPr>
        <p:grpSpPr>
          <a:xfrm>
            <a:off x="457200" y="3703320"/>
            <a:ext cx="8229600" cy="1280160"/>
            <a:chOff x="457200" y="3840480"/>
            <a:chExt cx="8229600" cy="1280160"/>
          </a:xfrm>
        </p:grpSpPr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04E08F25-B728-23CA-DCC9-5DD0B69DBBA3}"/>
                </a:ext>
              </a:extLst>
            </p:cNvPr>
            <p:cNvSpPr/>
            <p:nvPr/>
          </p:nvSpPr>
          <p:spPr>
            <a:xfrm>
              <a:off x="457200" y="3840480"/>
              <a:ext cx="3931920" cy="1280160"/>
            </a:xfrm>
            <a:prstGeom prst="rect">
              <a:avLst/>
            </a:prstGeom>
            <a:solidFill>
              <a:srgbClr val="FFFFFF"/>
            </a:solidFill>
            <a:ln w="50800">
              <a:solidFill>
                <a:srgbClr val="9D4EDD"/>
              </a:solidFill>
              <a:prstDash val="solid"/>
            </a:ln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6DD834F7-77D6-15DC-B7F3-1F3BAECDFE0F}"/>
                </a:ext>
              </a:extLst>
            </p:cNvPr>
            <p:cNvSpPr/>
            <p:nvPr/>
          </p:nvSpPr>
          <p:spPr>
            <a:xfrm>
              <a:off x="457200" y="3840480"/>
              <a:ext cx="137160" cy="1280160"/>
            </a:xfrm>
            <a:prstGeom prst="rect">
              <a:avLst/>
            </a:prstGeom>
            <a:solidFill>
              <a:srgbClr val="9D4EDD"/>
            </a:solidFill>
            <a:ln/>
          </p:spPr>
        </p:sp>
        <p:pic>
          <p:nvPicPr>
            <p:cNvPr id="21" name="Image 3" descr="preencoded.png">
              <a:extLst>
                <a:ext uri="{FF2B5EF4-FFF2-40B4-BE49-F238E27FC236}">
                  <a16:creationId xmlns:a16="http://schemas.microsoft.com/office/drawing/2014/main" id="{6E123379-8147-ED4E-D91A-9891729B0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" y="3977640"/>
              <a:ext cx="457200" cy="457200"/>
            </a:xfrm>
            <a:prstGeom prst="rect">
              <a:avLst/>
            </a:prstGeom>
          </p:spPr>
        </p:pic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7BF2D5B0-3694-8B54-D2BD-A708BAB2F1BD}"/>
                </a:ext>
              </a:extLst>
            </p:cNvPr>
            <p:cNvSpPr/>
            <p:nvPr/>
          </p:nvSpPr>
          <p:spPr>
            <a:xfrm>
              <a:off x="1234440" y="3931920"/>
              <a:ext cx="3017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A1A2E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3. THOMSON EFFECT</a:t>
              </a:r>
              <a:endParaRPr lang="en-US" sz="1800" dirty="0"/>
            </a:p>
          </p:txBody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A9B6B2B5-5085-B0D7-40B1-3407EBDA5BC0}"/>
                </a:ext>
              </a:extLst>
            </p:cNvPr>
            <p:cNvSpPr/>
            <p:nvPr/>
          </p:nvSpPr>
          <p:spPr>
            <a:xfrm>
              <a:off x="1234440" y="4297680"/>
              <a:ext cx="30175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9D4ED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τJ(dT/dx)</a:t>
              </a:r>
              <a:endParaRPr lang="en-US" sz="1600" dirty="0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DA1C4F77-2B09-EC5D-6A91-658EE0529772}"/>
                </a:ext>
              </a:extLst>
            </p:cNvPr>
            <p:cNvSpPr/>
            <p:nvPr/>
          </p:nvSpPr>
          <p:spPr>
            <a:xfrm>
              <a:off x="685800" y="4663440"/>
              <a:ext cx="3611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Heat along gradient (± reversible)</a:t>
              </a:r>
              <a:endParaRPr lang="en-US" sz="1200" dirty="0"/>
            </a:p>
          </p:txBody>
        </p:sp>
        <p:sp>
          <p:nvSpPr>
            <p:cNvPr id="25" name="Shape 19">
              <a:extLst>
                <a:ext uri="{FF2B5EF4-FFF2-40B4-BE49-F238E27FC236}">
                  <a16:creationId xmlns:a16="http://schemas.microsoft.com/office/drawing/2014/main" id="{35F1A36E-8F58-66C1-3BC6-A76808611508}"/>
                </a:ext>
              </a:extLst>
            </p:cNvPr>
            <p:cNvSpPr/>
            <p:nvPr/>
          </p:nvSpPr>
          <p:spPr>
            <a:xfrm>
              <a:off x="4754880" y="3840480"/>
              <a:ext cx="3931920" cy="1280160"/>
            </a:xfrm>
            <a:prstGeom prst="rect">
              <a:avLst/>
            </a:prstGeom>
            <a:solidFill>
              <a:srgbClr val="FFFFFF"/>
            </a:solidFill>
            <a:ln w="50800">
              <a:solidFill>
                <a:srgbClr val="FF006E"/>
              </a:solidFill>
              <a:prstDash val="solid"/>
            </a:ln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6" name="Shape 20">
              <a:extLst>
                <a:ext uri="{FF2B5EF4-FFF2-40B4-BE49-F238E27FC236}">
                  <a16:creationId xmlns:a16="http://schemas.microsoft.com/office/drawing/2014/main" id="{EFC58032-2D44-C5BF-FCD2-CAB85FBFC895}"/>
                </a:ext>
              </a:extLst>
            </p:cNvPr>
            <p:cNvSpPr/>
            <p:nvPr/>
          </p:nvSpPr>
          <p:spPr>
            <a:xfrm>
              <a:off x="4754880" y="3840480"/>
              <a:ext cx="137160" cy="1280160"/>
            </a:xfrm>
            <a:prstGeom prst="rect">
              <a:avLst/>
            </a:prstGeom>
            <a:solidFill>
              <a:srgbClr val="FF006E"/>
            </a:solidFill>
            <a:ln/>
          </p:spPr>
        </p:sp>
        <p:pic>
          <p:nvPicPr>
            <p:cNvPr id="27" name="Image 4" descr="preencoded.png">
              <a:extLst>
                <a:ext uri="{FF2B5EF4-FFF2-40B4-BE49-F238E27FC236}">
                  <a16:creationId xmlns:a16="http://schemas.microsoft.com/office/drawing/2014/main" id="{1BFE7CEA-645A-5220-E8E2-C3B1AE07D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83480" y="3977640"/>
              <a:ext cx="457200" cy="457200"/>
            </a:xfrm>
            <a:prstGeom prst="rect">
              <a:avLst/>
            </a:prstGeom>
          </p:spPr>
        </p:pic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C86C7EC7-4F4F-576A-2FB3-C31BD208F6AD}"/>
                </a:ext>
              </a:extLst>
            </p:cNvPr>
            <p:cNvSpPr/>
            <p:nvPr/>
          </p:nvSpPr>
          <p:spPr>
            <a:xfrm>
              <a:off x="5532120" y="3931920"/>
              <a:ext cx="30175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A1A2E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4. FOURIER CONDUCTION</a:t>
              </a:r>
              <a:endParaRPr lang="en-US" sz="1700" dirty="0"/>
            </a:p>
          </p:txBody>
        </p:sp>
        <p:sp>
          <p:nvSpPr>
            <p:cNvPr id="29" name="Text 22">
              <a:extLst>
                <a:ext uri="{FF2B5EF4-FFF2-40B4-BE49-F238E27FC236}">
                  <a16:creationId xmlns:a16="http://schemas.microsoft.com/office/drawing/2014/main" id="{1FFDF633-5163-0E4D-34B3-51995906DBFD}"/>
                </a:ext>
              </a:extLst>
            </p:cNvPr>
            <p:cNvSpPr/>
            <p:nvPr/>
          </p:nvSpPr>
          <p:spPr>
            <a:xfrm>
              <a:off x="5532120" y="4389120"/>
              <a:ext cx="3017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006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−κ(d²T/dx²)</a:t>
              </a:r>
              <a:endParaRPr lang="en-US" sz="1600" dirty="0"/>
            </a:p>
          </p:txBody>
        </p:sp>
        <p:sp>
          <p:nvSpPr>
            <p:cNvPr id="30" name="Text 23">
              <a:extLst>
                <a:ext uri="{FF2B5EF4-FFF2-40B4-BE49-F238E27FC236}">
                  <a16:creationId xmlns:a16="http://schemas.microsoft.com/office/drawing/2014/main" id="{2459F1ED-7EF8-C835-707E-B25595E12B03}"/>
                </a:ext>
              </a:extLst>
            </p:cNvPr>
            <p:cNvSpPr/>
            <p:nvPr/>
          </p:nvSpPr>
          <p:spPr>
            <a:xfrm>
              <a:off x="4983480" y="4663440"/>
              <a:ext cx="3611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Thermal conduction (hot → cold)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5864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6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KEY TAKEAWAYS</a:t>
            </a:r>
            <a:endParaRPr lang="en-US" sz="4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C5D115-C541-752E-5D17-E7A9F072745F}"/>
              </a:ext>
            </a:extLst>
          </p:cNvPr>
          <p:cNvGrpSpPr/>
          <p:nvPr/>
        </p:nvGrpSpPr>
        <p:grpSpPr>
          <a:xfrm>
            <a:off x="914400" y="1188720"/>
            <a:ext cx="7315200" cy="777240"/>
            <a:chOff x="914400" y="1463040"/>
            <a:chExt cx="7315200" cy="777240"/>
          </a:xfrm>
        </p:grpSpPr>
        <p:sp>
          <p:nvSpPr>
            <p:cNvPr id="3" name="Shape 1"/>
            <p:cNvSpPr/>
            <p:nvPr/>
          </p:nvSpPr>
          <p:spPr>
            <a:xfrm>
              <a:off x="914400" y="1463040"/>
              <a:ext cx="7315200" cy="777240"/>
            </a:xfrm>
            <a:prstGeom prst="rect">
              <a:avLst/>
            </a:prstGeom>
            <a:solidFill>
              <a:srgbClr val="F7931E"/>
            </a:solidFill>
            <a:ln/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" name="Text 2"/>
            <p:cNvSpPr/>
            <p:nvPr/>
          </p:nvSpPr>
          <p:spPr>
            <a:xfrm>
              <a:off x="1097280" y="1600200"/>
              <a:ext cx="548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Impact" pitchFamily="34" charset="0"/>
                  <a:ea typeface="Impact" pitchFamily="34" charset="-122"/>
                  <a:cs typeface="Impact" pitchFamily="34" charset="-120"/>
                </a:rPr>
                <a:t>1</a:t>
              </a:r>
              <a:endParaRPr lang="en-US" sz="36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828800" y="1600200"/>
              <a:ext cx="62179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SEEBECK: Heat → Electricity (Thermocouples, Power Generation)</a:t>
              </a:r>
              <a:endParaRPr lang="en-US" sz="20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293337-7638-EB8F-E5E8-2B743E9A4180}"/>
              </a:ext>
            </a:extLst>
          </p:cNvPr>
          <p:cNvGrpSpPr/>
          <p:nvPr/>
        </p:nvGrpSpPr>
        <p:grpSpPr>
          <a:xfrm>
            <a:off x="914400" y="2183130"/>
            <a:ext cx="7315200" cy="777240"/>
            <a:chOff x="914400" y="2468880"/>
            <a:chExt cx="7315200" cy="777240"/>
          </a:xfrm>
        </p:grpSpPr>
        <p:sp>
          <p:nvSpPr>
            <p:cNvPr id="6" name="Shape 4"/>
            <p:cNvSpPr/>
            <p:nvPr/>
          </p:nvSpPr>
          <p:spPr>
            <a:xfrm>
              <a:off x="914400" y="2468880"/>
              <a:ext cx="7315200" cy="777240"/>
            </a:xfrm>
            <a:prstGeom prst="rect">
              <a:avLst/>
            </a:prstGeom>
            <a:solidFill>
              <a:srgbClr val="FF006E"/>
            </a:solidFill>
            <a:ln/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1097280" y="2606040"/>
              <a:ext cx="548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Impact" pitchFamily="34" charset="0"/>
                  <a:ea typeface="Impact" pitchFamily="34" charset="-122"/>
                  <a:cs typeface="Impact" pitchFamily="34" charset="-120"/>
                </a:rPr>
                <a:t>2</a:t>
              </a:r>
              <a:endParaRPr lang="en-US" sz="3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828800" y="2606040"/>
              <a:ext cx="62179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PELTIER: Electricity → Cooling/Heating (Refrigeration, Electronics)</a:t>
              </a:r>
              <a:endParaRPr lang="en-US" sz="20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79B0EB-E981-2A73-5483-F4B5A4316D1E}"/>
              </a:ext>
            </a:extLst>
          </p:cNvPr>
          <p:cNvGrpSpPr/>
          <p:nvPr/>
        </p:nvGrpSpPr>
        <p:grpSpPr>
          <a:xfrm>
            <a:off x="914400" y="3177540"/>
            <a:ext cx="7315200" cy="777240"/>
            <a:chOff x="914400" y="3474720"/>
            <a:chExt cx="7315200" cy="777240"/>
          </a:xfrm>
          <a:solidFill>
            <a:srgbClr val="00B4D8"/>
          </a:solidFill>
        </p:grpSpPr>
        <p:sp>
          <p:nvSpPr>
            <p:cNvPr id="9" name="Shape 7"/>
            <p:cNvSpPr/>
            <p:nvPr/>
          </p:nvSpPr>
          <p:spPr>
            <a:xfrm>
              <a:off x="914400" y="3474720"/>
              <a:ext cx="7315200" cy="777240"/>
            </a:xfrm>
            <a:prstGeom prst="rect">
              <a:avLst/>
            </a:prstGeom>
            <a:grpFill/>
            <a:ln/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1097280" y="3611880"/>
              <a:ext cx="548640" cy="50292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Impact" pitchFamily="34" charset="0"/>
                  <a:ea typeface="Impact" pitchFamily="34" charset="-122"/>
                  <a:cs typeface="Impact" pitchFamily="34" charset="-120"/>
                </a:rPr>
                <a:t>3</a:t>
              </a:r>
              <a:endParaRPr lang="en-US" sz="3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828800" y="3611880"/>
              <a:ext cx="6217920" cy="50292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THOMSON: Unified Theory (Kelvin Relations connect all effects)</a:t>
              </a:r>
              <a:endParaRPr lang="en-US" sz="2000" dirty="0"/>
            </a:p>
          </p:txBody>
        </p:sp>
      </p:grpSp>
      <p:sp>
        <p:nvSpPr>
          <p:cNvPr id="14" name="Shape 7">
            <a:extLst>
              <a:ext uri="{FF2B5EF4-FFF2-40B4-BE49-F238E27FC236}">
                <a16:creationId xmlns:a16="http://schemas.microsoft.com/office/drawing/2014/main" id="{A80A9323-ECDC-892E-94A2-2D6F8D993089}"/>
              </a:ext>
            </a:extLst>
          </p:cNvPr>
          <p:cNvSpPr/>
          <p:nvPr/>
        </p:nvSpPr>
        <p:spPr>
          <a:xfrm>
            <a:off x="914400" y="4171950"/>
            <a:ext cx="7315200" cy="777240"/>
          </a:xfrm>
          <a:prstGeom prst="rect">
            <a:avLst/>
          </a:prstGeom>
          <a:solidFill>
            <a:srgbClr val="9D4EDD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FF91E76C-00F4-BABC-B53D-97337B4A6C68}"/>
              </a:ext>
            </a:extLst>
          </p:cNvPr>
          <p:cNvSpPr/>
          <p:nvPr/>
        </p:nvSpPr>
        <p:spPr>
          <a:xfrm>
            <a:off x="1097280" y="428752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</a:rPr>
              <a:t>4</a:t>
            </a:r>
            <a:endParaRPr lang="en-US" sz="36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E28093D-BDC4-4E95-5DB2-79646B303D8F}"/>
              </a:ext>
            </a:extLst>
          </p:cNvPr>
          <p:cNvSpPr/>
          <p:nvPr/>
        </p:nvSpPr>
        <p:spPr>
          <a:xfrm>
            <a:off x="1828800" y="4455160"/>
            <a:ext cx="696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The Complete Thermoelectric equation that </a:t>
            </a:r>
          </a:p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governs all thermoelectric device performance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103414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6284"/>
            <a:ext cx="8229600" cy="456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COMSOL Simulation Checklist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1463040" y="1073401"/>
            <a:ext cx="347472" cy="347472"/>
          </a:xfrm>
          <a:prstGeom prst="ellipse">
            <a:avLst/>
          </a:prstGeom>
          <a:solidFill>
            <a:srgbClr val="8338EC"/>
          </a:solidFill>
          <a:ln/>
        </p:spPr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C6235D4-9A45-820D-9485-1DC8ADFBEBF7}"/>
              </a:ext>
            </a:extLst>
          </p:cNvPr>
          <p:cNvGrpSpPr/>
          <p:nvPr/>
        </p:nvGrpSpPr>
        <p:grpSpPr>
          <a:xfrm>
            <a:off x="1463040" y="1073401"/>
            <a:ext cx="6766560" cy="347472"/>
            <a:chOff x="1463040" y="1449324"/>
            <a:chExt cx="6766560" cy="347472"/>
          </a:xfrm>
        </p:grpSpPr>
        <p:sp>
          <p:nvSpPr>
            <p:cNvPr id="8" name="Text 6"/>
            <p:cNvSpPr/>
            <p:nvPr/>
          </p:nvSpPr>
          <p:spPr>
            <a:xfrm>
              <a:off x="1463040" y="1449324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</a:t>
              </a:r>
              <a:endParaRPr lang="en-US" sz="1600" dirty="0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0240" y="1481328"/>
              <a:ext cx="274320" cy="274320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2286000" y="1463040"/>
              <a:ext cx="5943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Wizard</a:t>
              </a:r>
              <a:endParaRPr lang="en-US" sz="16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4FCB650-83AD-3C7B-E893-368749DD564D}"/>
              </a:ext>
            </a:extLst>
          </p:cNvPr>
          <p:cNvGrpSpPr/>
          <p:nvPr/>
        </p:nvGrpSpPr>
        <p:grpSpPr>
          <a:xfrm>
            <a:off x="935380" y="1498018"/>
            <a:ext cx="320040" cy="329184"/>
            <a:chOff x="914400" y="1828800"/>
            <a:chExt cx="320040" cy="329184"/>
          </a:xfrm>
        </p:grpSpPr>
        <p:sp>
          <p:nvSpPr>
            <p:cNvPr id="11" name="Shape 8"/>
            <p:cNvSpPr/>
            <p:nvPr/>
          </p:nvSpPr>
          <p:spPr>
            <a:xfrm>
              <a:off x="914400" y="1828800"/>
              <a:ext cx="320040" cy="320040"/>
            </a:xfrm>
            <a:prstGeom prst="rect">
              <a:avLst/>
            </a:prstGeom>
            <a:noFill/>
            <a:ln w="25400">
              <a:solidFill>
                <a:srgbClr val="1A1A2E"/>
              </a:solidFill>
              <a:prstDash val="solid"/>
            </a:ln>
          </p:spPr>
        </p:sp>
        <p:sp>
          <p:nvSpPr>
            <p:cNvPr id="12" name="Text 9"/>
            <p:cNvSpPr/>
            <p:nvPr/>
          </p:nvSpPr>
          <p:spPr>
            <a:xfrm>
              <a:off x="914400" y="183794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2800" dirty="0"/>
            </a:p>
          </p:txBody>
        </p:sp>
      </p:grpSp>
      <p:sp>
        <p:nvSpPr>
          <p:cNvPr id="13" name="Shape 10"/>
          <p:cNvSpPr/>
          <p:nvPr/>
        </p:nvSpPr>
        <p:spPr>
          <a:xfrm>
            <a:off x="1463040" y="1473506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365C430-7A6B-3B15-6FF8-CEF25B7BABB2}"/>
              </a:ext>
            </a:extLst>
          </p:cNvPr>
          <p:cNvGrpSpPr/>
          <p:nvPr/>
        </p:nvGrpSpPr>
        <p:grpSpPr>
          <a:xfrm>
            <a:off x="1463040" y="1473506"/>
            <a:ext cx="6766560" cy="347472"/>
            <a:chOff x="1463040" y="1815084"/>
            <a:chExt cx="6766560" cy="347472"/>
          </a:xfrm>
        </p:grpSpPr>
        <p:sp>
          <p:nvSpPr>
            <p:cNvPr id="14" name="Text 11"/>
            <p:cNvSpPr/>
            <p:nvPr/>
          </p:nvSpPr>
          <p:spPr>
            <a:xfrm>
              <a:off x="1463040" y="1815084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</a:t>
              </a:r>
              <a:endParaRPr lang="en-US" sz="1600" dirty="0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0240" y="1847088"/>
              <a:ext cx="274320" cy="274320"/>
            </a:xfrm>
            <a:prstGeom prst="rect">
              <a:avLst/>
            </a:prstGeom>
          </p:spPr>
        </p:pic>
        <p:sp>
          <p:nvSpPr>
            <p:cNvPr id="16" name="Text 12"/>
            <p:cNvSpPr/>
            <p:nvPr/>
          </p:nvSpPr>
          <p:spPr>
            <a:xfrm>
              <a:off x="2286000" y="1828800"/>
              <a:ext cx="5943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Space Dimension</a:t>
              </a:r>
              <a:endParaRPr lang="en-US" sz="1600" dirty="0"/>
            </a:p>
          </p:txBody>
        </p:sp>
      </p:grpSp>
      <p:sp>
        <p:nvSpPr>
          <p:cNvPr id="19" name="Shape 15"/>
          <p:cNvSpPr/>
          <p:nvPr/>
        </p:nvSpPr>
        <p:spPr>
          <a:xfrm>
            <a:off x="1463040" y="1864633"/>
            <a:ext cx="347472" cy="347472"/>
          </a:xfrm>
          <a:prstGeom prst="ellipse">
            <a:avLst/>
          </a:prstGeom>
          <a:solidFill>
            <a:srgbClr val="F7931E"/>
          </a:solidFill>
          <a:ln/>
        </p:spPr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DE24C2D-2330-E883-87F5-819ED7A61E25}"/>
              </a:ext>
            </a:extLst>
          </p:cNvPr>
          <p:cNvGrpSpPr/>
          <p:nvPr/>
        </p:nvGrpSpPr>
        <p:grpSpPr>
          <a:xfrm>
            <a:off x="1463040" y="1864633"/>
            <a:ext cx="6766560" cy="347472"/>
            <a:chOff x="1463040" y="2180844"/>
            <a:chExt cx="6766560" cy="347472"/>
          </a:xfrm>
        </p:grpSpPr>
        <p:sp>
          <p:nvSpPr>
            <p:cNvPr id="20" name="Text 16"/>
            <p:cNvSpPr/>
            <p:nvPr/>
          </p:nvSpPr>
          <p:spPr>
            <a:xfrm>
              <a:off x="1463040" y="2180844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</a:t>
              </a:r>
              <a:endParaRPr lang="en-US" sz="1600" dirty="0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0240" y="2212848"/>
              <a:ext cx="274320" cy="274320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2286000" y="2194560"/>
              <a:ext cx="5943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 Physics</a:t>
              </a:r>
              <a:endParaRPr lang="en-US" sz="1600" dirty="0"/>
            </a:p>
          </p:txBody>
        </p:sp>
      </p:grpSp>
      <p:sp>
        <p:nvSpPr>
          <p:cNvPr id="25" name="Shape 20"/>
          <p:cNvSpPr/>
          <p:nvPr/>
        </p:nvSpPr>
        <p:spPr>
          <a:xfrm>
            <a:off x="1463040" y="2268084"/>
            <a:ext cx="347472" cy="347472"/>
          </a:xfrm>
          <a:prstGeom prst="ellipse">
            <a:avLst/>
          </a:prstGeom>
          <a:solidFill>
            <a:srgbClr val="9D4EDD"/>
          </a:solidFill>
          <a:ln/>
        </p:spPr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FA6E137-34B8-EF74-C899-1E74CBCECCDB}"/>
              </a:ext>
            </a:extLst>
          </p:cNvPr>
          <p:cNvGrpSpPr/>
          <p:nvPr/>
        </p:nvGrpSpPr>
        <p:grpSpPr>
          <a:xfrm>
            <a:off x="1463040" y="2268084"/>
            <a:ext cx="6766560" cy="347472"/>
            <a:chOff x="1463040" y="2546604"/>
            <a:chExt cx="6766560" cy="347472"/>
          </a:xfrm>
        </p:grpSpPr>
        <p:sp>
          <p:nvSpPr>
            <p:cNvPr id="26" name="Text 21"/>
            <p:cNvSpPr/>
            <p:nvPr/>
          </p:nvSpPr>
          <p:spPr>
            <a:xfrm>
              <a:off x="1463040" y="2546604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</a:t>
              </a:r>
              <a:endParaRPr lang="en-US" sz="1600" dirty="0"/>
            </a:p>
          </p:txBody>
        </p:sp>
        <p:pic>
          <p:nvPicPr>
            <p:cNvPr id="27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20240" y="2578608"/>
              <a:ext cx="274320" cy="274320"/>
            </a:xfrm>
            <a:prstGeom prst="rect">
              <a:avLst/>
            </a:prstGeom>
          </p:spPr>
        </p:pic>
        <p:sp>
          <p:nvSpPr>
            <p:cNvPr id="28" name="Text 22"/>
            <p:cNvSpPr/>
            <p:nvPr/>
          </p:nvSpPr>
          <p:spPr>
            <a:xfrm>
              <a:off x="2286000" y="2560320"/>
              <a:ext cx="5943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 Study</a:t>
              </a:r>
              <a:endParaRPr lang="en-US" sz="1600" dirty="0"/>
            </a:p>
          </p:txBody>
        </p:sp>
      </p:grpSp>
      <p:sp>
        <p:nvSpPr>
          <p:cNvPr id="31" name="Shape 25"/>
          <p:cNvSpPr/>
          <p:nvPr/>
        </p:nvSpPr>
        <p:spPr>
          <a:xfrm>
            <a:off x="1463040" y="2674020"/>
            <a:ext cx="347472" cy="347472"/>
          </a:xfrm>
          <a:prstGeom prst="ellipse">
            <a:avLst/>
          </a:prstGeom>
          <a:solidFill>
            <a:srgbClr val="FFD60A"/>
          </a:solidFill>
          <a:ln/>
        </p:spPr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FEAAAD2-7A3D-FC0D-25E1-AF87ED6DA0C7}"/>
              </a:ext>
            </a:extLst>
          </p:cNvPr>
          <p:cNvGrpSpPr/>
          <p:nvPr/>
        </p:nvGrpSpPr>
        <p:grpSpPr>
          <a:xfrm>
            <a:off x="1463040" y="2674020"/>
            <a:ext cx="6766560" cy="347472"/>
            <a:chOff x="1463040" y="2912364"/>
            <a:chExt cx="6766560" cy="347472"/>
          </a:xfrm>
        </p:grpSpPr>
        <p:sp>
          <p:nvSpPr>
            <p:cNvPr id="32" name="Text 26"/>
            <p:cNvSpPr/>
            <p:nvPr/>
          </p:nvSpPr>
          <p:spPr>
            <a:xfrm>
              <a:off x="1463040" y="2912364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</a:t>
              </a:r>
              <a:endParaRPr lang="en-US" sz="1600" dirty="0"/>
            </a:p>
          </p:txBody>
        </p:sp>
        <p:pic>
          <p:nvPicPr>
            <p:cNvPr id="33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20240" y="2944368"/>
              <a:ext cx="274320" cy="274320"/>
            </a:xfrm>
            <a:prstGeom prst="rect">
              <a:avLst/>
            </a:prstGeom>
          </p:spPr>
        </p:pic>
        <p:sp>
          <p:nvSpPr>
            <p:cNvPr id="34" name="Text 27"/>
            <p:cNvSpPr/>
            <p:nvPr/>
          </p:nvSpPr>
          <p:spPr>
            <a:xfrm>
              <a:off x="2286000" y="2926080"/>
              <a:ext cx="5943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Geometry</a:t>
              </a:r>
              <a:endParaRPr lang="en-US" sz="1600" dirty="0"/>
            </a:p>
          </p:txBody>
        </p:sp>
      </p:grpSp>
      <p:sp>
        <p:nvSpPr>
          <p:cNvPr id="37" name="Shape 30"/>
          <p:cNvSpPr/>
          <p:nvPr/>
        </p:nvSpPr>
        <p:spPr>
          <a:xfrm>
            <a:off x="1463040" y="3084527"/>
            <a:ext cx="347472" cy="347472"/>
          </a:xfrm>
          <a:prstGeom prst="ellipse">
            <a:avLst/>
          </a:prstGeom>
          <a:solidFill>
            <a:srgbClr val="FF006E"/>
          </a:solidFill>
          <a:ln/>
        </p:spPr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D3E0026-0961-588D-7B89-E2DE1CBDABE5}"/>
              </a:ext>
            </a:extLst>
          </p:cNvPr>
          <p:cNvGrpSpPr/>
          <p:nvPr/>
        </p:nvGrpSpPr>
        <p:grpSpPr>
          <a:xfrm>
            <a:off x="1463040" y="3084527"/>
            <a:ext cx="6766560" cy="347472"/>
            <a:chOff x="1463040" y="3278124"/>
            <a:chExt cx="6766560" cy="347472"/>
          </a:xfrm>
        </p:grpSpPr>
        <p:sp>
          <p:nvSpPr>
            <p:cNvPr id="38" name="Text 31"/>
            <p:cNvSpPr/>
            <p:nvPr/>
          </p:nvSpPr>
          <p:spPr>
            <a:xfrm>
              <a:off x="1463040" y="3278124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</a:t>
              </a:r>
              <a:endParaRPr lang="en-US" sz="1600" dirty="0"/>
            </a:p>
          </p:txBody>
        </p:sp>
        <p:pic>
          <p:nvPicPr>
            <p:cNvPr id="39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20240" y="3310128"/>
              <a:ext cx="274320" cy="274320"/>
            </a:xfrm>
            <a:prstGeom prst="rect">
              <a:avLst/>
            </a:prstGeom>
          </p:spPr>
        </p:pic>
        <p:sp>
          <p:nvSpPr>
            <p:cNvPr id="40" name="Text 32"/>
            <p:cNvSpPr/>
            <p:nvPr/>
          </p:nvSpPr>
          <p:spPr>
            <a:xfrm>
              <a:off x="2286000" y="3291840"/>
              <a:ext cx="5943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Declare Materials</a:t>
              </a:r>
              <a:endParaRPr lang="en-US" sz="1600" dirty="0"/>
            </a:p>
          </p:txBody>
        </p:sp>
      </p:grpSp>
      <p:sp>
        <p:nvSpPr>
          <p:cNvPr id="43" name="Shape 35"/>
          <p:cNvSpPr/>
          <p:nvPr/>
        </p:nvSpPr>
        <p:spPr>
          <a:xfrm>
            <a:off x="1463040" y="3490690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343F33A-DDEA-F6EF-9F2B-9842CCFB9DB5}"/>
              </a:ext>
            </a:extLst>
          </p:cNvPr>
          <p:cNvGrpSpPr/>
          <p:nvPr/>
        </p:nvGrpSpPr>
        <p:grpSpPr>
          <a:xfrm>
            <a:off x="1463040" y="3490690"/>
            <a:ext cx="6766560" cy="347472"/>
            <a:chOff x="1463040" y="3643884"/>
            <a:chExt cx="6766560" cy="347472"/>
          </a:xfrm>
        </p:grpSpPr>
        <p:sp>
          <p:nvSpPr>
            <p:cNvPr id="44" name="Text 36"/>
            <p:cNvSpPr/>
            <p:nvPr/>
          </p:nvSpPr>
          <p:spPr>
            <a:xfrm>
              <a:off x="1463040" y="3643884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</a:t>
              </a:r>
              <a:endParaRPr lang="en-US" sz="1600" dirty="0"/>
            </a:p>
          </p:txBody>
        </p:sp>
        <p:pic>
          <p:nvPicPr>
            <p:cNvPr id="45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20240" y="3675888"/>
              <a:ext cx="274320" cy="274320"/>
            </a:xfrm>
            <a:prstGeom prst="rect">
              <a:avLst/>
            </a:prstGeom>
          </p:spPr>
        </p:pic>
        <p:sp>
          <p:nvSpPr>
            <p:cNvPr id="46" name="Text 37"/>
            <p:cNvSpPr/>
            <p:nvPr/>
          </p:nvSpPr>
          <p:spPr>
            <a:xfrm>
              <a:off x="2286000" y="3657600"/>
              <a:ext cx="5943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Boundary Conditions</a:t>
              </a:r>
              <a:endParaRPr lang="en-US" sz="1600" dirty="0"/>
            </a:p>
          </p:txBody>
        </p:sp>
      </p:grpSp>
      <p:sp>
        <p:nvSpPr>
          <p:cNvPr id="49" name="Shape 40"/>
          <p:cNvSpPr/>
          <p:nvPr/>
        </p:nvSpPr>
        <p:spPr>
          <a:xfrm>
            <a:off x="1463040" y="3901192"/>
            <a:ext cx="347472" cy="347472"/>
          </a:xfrm>
          <a:prstGeom prst="ellipse">
            <a:avLst/>
          </a:prstGeom>
          <a:solidFill>
            <a:srgbClr val="9D4EDD"/>
          </a:solidFill>
          <a:ln/>
        </p:spPr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6BD0CDE-AC09-2E86-2F5C-2F2AC47CE695}"/>
              </a:ext>
            </a:extLst>
          </p:cNvPr>
          <p:cNvGrpSpPr/>
          <p:nvPr/>
        </p:nvGrpSpPr>
        <p:grpSpPr>
          <a:xfrm>
            <a:off x="1463040" y="3901192"/>
            <a:ext cx="6766560" cy="347472"/>
            <a:chOff x="1463040" y="4009644"/>
            <a:chExt cx="6766560" cy="347472"/>
          </a:xfrm>
        </p:grpSpPr>
        <p:sp>
          <p:nvSpPr>
            <p:cNvPr id="50" name="Text 41"/>
            <p:cNvSpPr/>
            <p:nvPr/>
          </p:nvSpPr>
          <p:spPr>
            <a:xfrm>
              <a:off x="1463040" y="4009644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</a:t>
              </a:r>
              <a:endParaRPr lang="en-US" sz="1600" dirty="0"/>
            </a:p>
          </p:txBody>
        </p:sp>
        <p:pic>
          <p:nvPicPr>
            <p:cNvPr id="51" name="Image 7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20240" y="4041648"/>
              <a:ext cx="274320" cy="274320"/>
            </a:xfrm>
            <a:prstGeom prst="rect">
              <a:avLst/>
            </a:prstGeom>
          </p:spPr>
        </p:pic>
        <p:sp>
          <p:nvSpPr>
            <p:cNvPr id="52" name="Text 42"/>
            <p:cNvSpPr/>
            <p:nvPr/>
          </p:nvSpPr>
          <p:spPr>
            <a:xfrm>
              <a:off x="2286000" y="4023360"/>
              <a:ext cx="5943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Mesh Generation</a:t>
              </a:r>
              <a:endParaRPr lang="en-US" sz="1600" dirty="0"/>
            </a:p>
          </p:txBody>
        </p:sp>
      </p:grpSp>
      <p:sp>
        <p:nvSpPr>
          <p:cNvPr id="54" name="Text 44"/>
          <p:cNvSpPr/>
          <p:nvPr/>
        </p:nvSpPr>
        <p:spPr>
          <a:xfrm>
            <a:off x="91440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5" name="Shape 45"/>
          <p:cNvSpPr/>
          <p:nvPr/>
        </p:nvSpPr>
        <p:spPr>
          <a:xfrm>
            <a:off x="1463040" y="4307462"/>
            <a:ext cx="347472" cy="347472"/>
          </a:xfrm>
          <a:prstGeom prst="ellipse">
            <a:avLst/>
          </a:prstGeom>
          <a:solidFill>
            <a:srgbClr val="FF6B35"/>
          </a:solidFill>
          <a:ln/>
        </p:spPr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761F08F-45FE-1E0A-027E-13F76D26ED66}"/>
              </a:ext>
            </a:extLst>
          </p:cNvPr>
          <p:cNvGrpSpPr/>
          <p:nvPr/>
        </p:nvGrpSpPr>
        <p:grpSpPr>
          <a:xfrm>
            <a:off x="1463040" y="4307462"/>
            <a:ext cx="6766560" cy="347472"/>
            <a:chOff x="1463040" y="4375404"/>
            <a:chExt cx="6766560" cy="347472"/>
          </a:xfrm>
        </p:grpSpPr>
        <p:sp>
          <p:nvSpPr>
            <p:cNvPr id="56" name="Text 46"/>
            <p:cNvSpPr/>
            <p:nvPr/>
          </p:nvSpPr>
          <p:spPr>
            <a:xfrm>
              <a:off x="1463040" y="4375404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</a:t>
              </a:r>
              <a:endParaRPr lang="en-US" sz="1600" dirty="0"/>
            </a:p>
          </p:txBody>
        </p:sp>
        <p:pic>
          <p:nvPicPr>
            <p:cNvPr id="57" name="Image 8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20240" y="4407408"/>
              <a:ext cx="274320" cy="274320"/>
            </a:xfrm>
            <a:prstGeom prst="rect">
              <a:avLst/>
            </a:prstGeom>
          </p:spPr>
        </p:pic>
        <p:sp>
          <p:nvSpPr>
            <p:cNvPr id="58" name="Text 47"/>
            <p:cNvSpPr/>
            <p:nvPr/>
          </p:nvSpPr>
          <p:spPr>
            <a:xfrm>
              <a:off x="2286000" y="4389120"/>
              <a:ext cx="5943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Compute Solution</a:t>
              </a:r>
              <a:endParaRPr lang="en-US" sz="1600" dirty="0"/>
            </a:p>
          </p:txBody>
        </p:sp>
      </p:grpSp>
      <p:sp>
        <p:nvSpPr>
          <p:cNvPr id="60" name="Text 49"/>
          <p:cNvSpPr/>
          <p:nvPr/>
        </p:nvSpPr>
        <p:spPr>
          <a:xfrm>
            <a:off x="91440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61" name="Shape 50"/>
          <p:cNvSpPr/>
          <p:nvPr/>
        </p:nvSpPr>
        <p:spPr>
          <a:xfrm>
            <a:off x="1463040" y="4710406"/>
            <a:ext cx="347472" cy="347472"/>
          </a:xfrm>
          <a:prstGeom prst="ellipse">
            <a:avLst/>
          </a:prstGeom>
          <a:solidFill>
            <a:srgbClr val="F7931E"/>
          </a:solidFill>
          <a:ln/>
        </p:spPr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D2BA19C-275B-019F-48C7-61C1FF2121DA}"/>
              </a:ext>
            </a:extLst>
          </p:cNvPr>
          <p:cNvGrpSpPr/>
          <p:nvPr/>
        </p:nvGrpSpPr>
        <p:grpSpPr>
          <a:xfrm>
            <a:off x="1392796" y="4672454"/>
            <a:ext cx="6836804" cy="481724"/>
            <a:chOff x="1392796" y="4703212"/>
            <a:chExt cx="6836804" cy="481724"/>
          </a:xfrm>
        </p:grpSpPr>
        <p:sp>
          <p:nvSpPr>
            <p:cNvPr id="62" name="Text 51"/>
            <p:cNvSpPr/>
            <p:nvPr/>
          </p:nvSpPr>
          <p:spPr>
            <a:xfrm>
              <a:off x="1392796" y="4703212"/>
              <a:ext cx="481724" cy="4817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10</a:t>
              </a:r>
              <a:endParaRPr lang="en-US" sz="1600" dirty="0"/>
            </a:p>
          </p:txBody>
        </p:sp>
        <p:pic>
          <p:nvPicPr>
            <p:cNvPr id="63" name="Image 9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920240" y="4773168"/>
              <a:ext cx="274320" cy="274320"/>
            </a:xfrm>
            <a:prstGeom prst="rect">
              <a:avLst/>
            </a:prstGeom>
          </p:spPr>
        </p:pic>
        <p:sp>
          <p:nvSpPr>
            <p:cNvPr id="64" name="Text 52"/>
            <p:cNvSpPr/>
            <p:nvPr/>
          </p:nvSpPr>
          <p:spPr>
            <a:xfrm>
              <a:off x="2286000" y="4754880"/>
              <a:ext cx="5943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Post-Processing</a:t>
              </a:r>
              <a:endParaRPr lang="en-US" sz="160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57FB36A-186F-73E3-B963-897EEEE09420}"/>
              </a:ext>
            </a:extLst>
          </p:cNvPr>
          <p:cNvGrpSpPr/>
          <p:nvPr/>
        </p:nvGrpSpPr>
        <p:grpSpPr>
          <a:xfrm>
            <a:off x="947572" y="4350369"/>
            <a:ext cx="320040" cy="329184"/>
            <a:chOff x="914400" y="1828800"/>
            <a:chExt cx="320040" cy="329184"/>
          </a:xfrm>
        </p:grpSpPr>
        <p:sp>
          <p:nvSpPr>
            <p:cNvPr id="69" name="Shape 8">
              <a:extLst>
                <a:ext uri="{FF2B5EF4-FFF2-40B4-BE49-F238E27FC236}">
                  <a16:creationId xmlns:a16="http://schemas.microsoft.com/office/drawing/2014/main" id="{CBA65CC3-A73D-C8DE-CD91-518964A03C0F}"/>
                </a:ext>
              </a:extLst>
            </p:cNvPr>
            <p:cNvSpPr/>
            <p:nvPr/>
          </p:nvSpPr>
          <p:spPr>
            <a:xfrm>
              <a:off x="914400" y="1828800"/>
              <a:ext cx="320040" cy="320040"/>
            </a:xfrm>
            <a:prstGeom prst="rect">
              <a:avLst/>
            </a:prstGeom>
            <a:noFill/>
            <a:ln w="25400">
              <a:solidFill>
                <a:srgbClr val="1A1A2E"/>
              </a:solidFill>
              <a:prstDash val="solid"/>
            </a:ln>
          </p:spPr>
        </p:sp>
        <p:sp>
          <p:nvSpPr>
            <p:cNvPr id="70" name="Text 9">
              <a:extLst>
                <a:ext uri="{FF2B5EF4-FFF2-40B4-BE49-F238E27FC236}">
                  <a16:creationId xmlns:a16="http://schemas.microsoft.com/office/drawing/2014/main" id="{8EAE40A4-70BD-AE86-61DA-88E259037B96}"/>
                </a:ext>
              </a:extLst>
            </p:cNvPr>
            <p:cNvSpPr/>
            <p:nvPr/>
          </p:nvSpPr>
          <p:spPr>
            <a:xfrm>
              <a:off x="914400" y="183794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28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C0C3BF0-018B-9D2E-CD92-9B06D1E0A231}"/>
              </a:ext>
            </a:extLst>
          </p:cNvPr>
          <p:cNvGrpSpPr/>
          <p:nvPr/>
        </p:nvGrpSpPr>
        <p:grpSpPr>
          <a:xfrm>
            <a:off x="928116" y="1911784"/>
            <a:ext cx="320040" cy="329184"/>
            <a:chOff x="914400" y="1828800"/>
            <a:chExt cx="320040" cy="329184"/>
          </a:xfrm>
        </p:grpSpPr>
        <p:sp>
          <p:nvSpPr>
            <p:cNvPr id="72" name="Shape 8">
              <a:extLst>
                <a:ext uri="{FF2B5EF4-FFF2-40B4-BE49-F238E27FC236}">
                  <a16:creationId xmlns:a16="http://schemas.microsoft.com/office/drawing/2014/main" id="{1EF592AE-175B-F35C-949A-3296535FED9D}"/>
                </a:ext>
              </a:extLst>
            </p:cNvPr>
            <p:cNvSpPr/>
            <p:nvPr/>
          </p:nvSpPr>
          <p:spPr>
            <a:xfrm>
              <a:off x="914400" y="1828800"/>
              <a:ext cx="320040" cy="320040"/>
            </a:xfrm>
            <a:prstGeom prst="rect">
              <a:avLst/>
            </a:prstGeom>
            <a:noFill/>
            <a:ln w="25400">
              <a:solidFill>
                <a:srgbClr val="1A1A2E"/>
              </a:solidFill>
              <a:prstDash val="solid"/>
            </a:ln>
          </p:spPr>
        </p:sp>
        <p:sp>
          <p:nvSpPr>
            <p:cNvPr id="73" name="Text 9">
              <a:extLst>
                <a:ext uri="{FF2B5EF4-FFF2-40B4-BE49-F238E27FC236}">
                  <a16:creationId xmlns:a16="http://schemas.microsoft.com/office/drawing/2014/main" id="{5720F030-D70D-FDD8-D697-EFE76ABDC37F}"/>
                </a:ext>
              </a:extLst>
            </p:cNvPr>
            <p:cNvSpPr/>
            <p:nvPr/>
          </p:nvSpPr>
          <p:spPr>
            <a:xfrm>
              <a:off x="914400" y="183794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28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BDCB4CB-169A-DF54-2CBA-10FDAE895DD3}"/>
              </a:ext>
            </a:extLst>
          </p:cNvPr>
          <p:cNvGrpSpPr/>
          <p:nvPr/>
        </p:nvGrpSpPr>
        <p:grpSpPr>
          <a:xfrm>
            <a:off x="927760" y="2312230"/>
            <a:ext cx="320040" cy="329184"/>
            <a:chOff x="914400" y="1828800"/>
            <a:chExt cx="320040" cy="329184"/>
          </a:xfrm>
        </p:grpSpPr>
        <p:sp>
          <p:nvSpPr>
            <p:cNvPr id="75" name="Shape 8">
              <a:extLst>
                <a:ext uri="{FF2B5EF4-FFF2-40B4-BE49-F238E27FC236}">
                  <a16:creationId xmlns:a16="http://schemas.microsoft.com/office/drawing/2014/main" id="{E1B2181C-41EE-8140-F9C4-CFF71D2038C0}"/>
                </a:ext>
              </a:extLst>
            </p:cNvPr>
            <p:cNvSpPr/>
            <p:nvPr/>
          </p:nvSpPr>
          <p:spPr>
            <a:xfrm>
              <a:off x="914400" y="1828800"/>
              <a:ext cx="320040" cy="320040"/>
            </a:xfrm>
            <a:prstGeom prst="rect">
              <a:avLst/>
            </a:prstGeom>
            <a:noFill/>
            <a:ln w="25400">
              <a:solidFill>
                <a:srgbClr val="1A1A2E"/>
              </a:solidFill>
              <a:prstDash val="solid"/>
            </a:ln>
          </p:spPr>
        </p:sp>
        <p:sp>
          <p:nvSpPr>
            <p:cNvPr id="76" name="Text 9">
              <a:extLst>
                <a:ext uri="{FF2B5EF4-FFF2-40B4-BE49-F238E27FC236}">
                  <a16:creationId xmlns:a16="http://schemas.microsoft.com/office/drawing/2014/main" id="{9CA69C48-FA7E-3C1E-3D50-144153F4A79C}"/>
                </a:ext>
              </a:extLst>
            </p:cNvPr>
            <p:cNvSpPr/>
            <p:nvPr/>
          </p:nvSpPr>
          <p:spPr>
            <a:xfrm>
              <a:off x="914400" y="183794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28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F3530C0-974D-4EA4-D8EA-601E2EFF2E5D}"/>
              </a:ext>
            </a:extLst>
          </p:cNvPr>
          <p:cNvGrpSpPr/>
          <p:nvPr/>
        </p:nvGrpSpPr>
        <p:grpSpPr>
          <a:xfrm>
            <a:off x="938428" y="2716443"/>
            <a:ext cx="320040" cy="329184"/>
            <a:chOff x="914400" y="1828800"/>
            <a:chExt cx="320040" cy="329184"/>
          </a:xfrm>
        </p:grpSpPr>
        <p:sp>
          <p:nvSpPr>
            <p:cNvPr id="78" name="Shape 8">
              <a:extLst>
                <a:ext uri="{FF2B5EF4-FFF2-40B4-BE49-F238E27FC236}">
                  <a16:creationId xmlns:a16="http://schemas.microsoft.com/office/drawing/2014/main" id="{05956833-506D-05B4-75C3-64E9773678B4}"/>
                </a:ext>
              </a:extLst>
            </p:cNvPr>
            <p:cNvSpPr/>
            <p:nvPr/>
          </p:nvSpPr>
          <p:spPr>
            <a:xfrm>
              <a:off x="914400" y="1828800"/>
              <a:ext cx="320040" cy="320040"/>
            </a:xfrm>
            <a:prstGeom prst="rect">
              <a:avLst/>
            </a:prstGeom>
            <a:noFill/>
            <a:ln w="25400">
              <a:solidFill>
                <a:srgbClr val="1A1A2E"/>
              </a:solidFill>
              <a:prstDash val="solid"/>
            </a:ln>
          </p:spPr>
        </p:sp>
        <p:sp>
          <p:nvSpPr>
            <p:cNvPr id="79" name="Text 9">
              <a:extLst>
                <a:ext uri="{FF2B5EF4-FFF2-40B4-BE49-F238E27FC236}">
                  <a16:creationId xmlns:a16="http://schemas.microsoft.com/office/drawing/2014/main" id="{A29B54E3-4DAC-01E1-5EC7-5D7EF274DF9B}"/>
                </a:ext>
              </a:extLst>
            </p:cNvPr>
            <p:cNvSpPr/>
            <p:nvPr/>
          </p:nvSpPr>
          <p:spPr>
            <a:xfrm>
              <a:off x="914400" y="183794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28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62341C-E2B3-B1FD-F4D7-9297B6BFE6A9}"/>
              </a:ext>
            </a:extLst>
          </p:cNvPr>
          <p:cNvGrpSpPr/>
          <p:nvPr/>
        </p:nvGrpSpPr>
        <p:grpSpPr>
          <a:xfrm>
            <a:off x="946404" y="3121054"/>
            <a:ext cx="320040" cy="329184"/>
            <a:chOff x="914400" y="1828800"/>
            <a:chExt cx="320040" cy="329184"/>
          </a:xfrm>
        </p:grpSpPr>
        <p:sp>
          <p:nvSpPr>
            <p:cNvPr id="81" name="Shape 8">
              <a:extLst>
                <a:ext uri="{FF2B5EF4-FFF2-40B4-BE49-F238E27FC236}">
                  <a16:creationId xmlns:a16="http://schemas.microsoft.com/office/drawing/2014/main" id="{916A967A-B4B5-4A37-5377-52B0B3A8E5F6}"/>
                </a:ext>
              </a:extLst>
            </p:cNvPr>
            <p:cNvSpPr/>
            <p:nvPr/>
          </p:nvSpPr>
          <p:spPr>
            <a:xfrm>
              <a:off x="914400" y="1828800"/>
              <a:ext cx="320040" cy="320040"/>
            </a:xfrm>
            <a:prstGeom prst="rect">
              <a:avLst/>
            </a:prstGeom>
            <a:noFill/>
            <a:ln w="25400">
              <a:solidFill>
                <a:srgbClr val="1A1A2E"/>
              </a:solidFill>
              <a:prstDash val="solid"/>
            </a:ln>
          </p:spPr>
        </p:sp>
        <p:sp>
          <p:nvSpPr>
            <p:cNvPr id="82" name="Text 9">
              <a:extLst>
                <a:ext uri="{FF2B5EF4-FFF2-40B4-BE49-F238E27FC236}">
                  <a16:creationId xmlns:a16="http://schemas.microsoft.com/office/drawing/2014/main" id="{7EFC3870-AF27-940D-FF2C-EE437F173A3F}"/>
                </a:ext>
              </a:extLst>
            </p:cNvPr>
            <p:cNvSpPr/>
            <p:nvPr/>
          </p:nvSpPr>
          <p:spPr>
            <a:xfrm>
              <a:off x="914400" y="183794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2800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71F8B9E-8326-A753-0976-2119A2B0ECA4}"/>
              </a:ext>
            </a:extLst>
          </p:cNvPr>
          <p:cNvGrpSpPr/>
          <p:nvPr/>
        </p:nvGrpSpPr>
        <p:grpSpPr>
          <a:xfrm>
            <a:off x="946404" y="3527763"/>
            <a:ext cx="320040" cy="329184"/>
            <a:chOff x="914400" y="1828800"/>
            <a:chExt cx="320040" cy="329184"/>
          </a:xfrm>
        </p:grpSpPr>
        <p:sp>
          <p:nvSpPr>
            <p:cNvPr id="84" name="Shape 8">
              <a:extLst>
                <a:ext uri="{FF2B5EF4-FFF2-40B4-BE49-F238E27FC236}">
                  <a16:creationId xmlns:a16="http://schemas.microsoft.com/office/drawing/2014/main" id="{2117F1C0-7A9F-5770-CAFE-1B0224EF4ACE}"/>
                </a:ext>
              </a:extLst>
            </p:cNvPr>
            <p:cNvSpPr/>
            <p:nvPr/>
          </p:nvSpPr>
          <p:spPr>
            <a:xfrm>
              <a:off x="914400" y="1828800"/>
              <a:ext cx="320040" cy="320040"/>
            </a:xfrm>
            <a:prstGeom prst="rect">
              <a:avLst/>
            </a:prstGeom>
            <a:noFill/>
            <a:ln w="25400">
              <a:solidFill>
                <a:srgbClr val="1A1A2E"/>
              </a:solidFill>
              <a:prstDash val="solid"/>
            </a:ln>
          </p:spPr>
        </p:sp>
        <p:sp>
          <p:nvSpPr>
            <p:cNvPr id="85" name="Text 9">
              <a:extLst>
                <a:ext uri="{FF2B5EF4-FFF2-40B4-BE49-F238E27FC236}">
                  <a16:creationId xmlns:a16="http://schemas.microsoft.com/office/drawing/2014/main" id="{DDE9E76C-7455-7449-FCEF-FA21DB91C053}"/>
                </a:ext>
              </a:extLst>
            </p:cNvPr>
            <p:cNvSpPr/>
            <p:nvPr/>
          </p:nvSpPr>
          <p:spPr>
            <a:xfrm>
              <a:off x="914400" y="183794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2800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6662CB8-A28A-2D50-8670-E846700431C7}"/>
              </a:ext>
            </a:extLst>
          </p:cNvPr>
          <p:cNvGrpSpPr/>
          <p:nvPr/>
        </p:nvGrpSpPr>
        <p:grpSpPr>
          <a:xfrm>
            <a:off x="935380" y="1106553"/>
            <a:ext cx="320040" cy="329184"/>
            <a:chOff x="914400" y="1828800"/>
            <a:chExt cx="320040" cy="329184"/>
          </a:xfrm>
        </p:grpSpPr>
        <p:sp>
          <p:nvSpPr>
            <p:cNvPr id="87" name="Shape 8">
              <a:extLst>
                <a:ext uri="{FF2B5EF4-FFF2-40B4-BE49-F238E27FC236}">
                  <a16:creationId xmlns:a16="http://schemas.microsoft.com/office/drawing/2014/main" id="{243E0C01-99EB-66D5-9F4C-A47D923DDAFC}"/>
                </a:ext>
              </a:extLst>
            </p:cNvPr>
            <p:cNvSpPr/>
            <p:nvPr/>
          </p:nvSpPr>
          <p:spPr>
            <a:xfrm>
              <a:off x="914400" y="1828800"/>
              <a:ext cx="320040" cy="320040"/>
            </a:xfrm>
            <a:prstGeom prst="rect">
              <a:avLst/>
            </a:prstGeom>
            <a:noFill/>
            <a:ln w="25400">
              <a:solidFill>
                <a:srgbClr val="1A1A2E"/>
              </a:solidFill>
              <a:prstDash val="solid"/>
            </a:ln>
          </p:spPr>
        </p:sp>
        <p:sp>
          <p:nvSpPr>
            <p:cNvPr id="88" name="Text 9">
              <a:extLst>
                <a:ext uri="{FF2B5EF4-FFF2-40B4-BE49-F238E27FC236}">
                  <a16:creationId xmlns:a16="http://schemas.microsoft.com/office/drawing/2014/main" id="{59731ED7-92BF-9E86-BDE4-ABB17895E3F6}"/>
                </a:ext>
              </a:extLst>
            </p:cNvPr>
            <p:cNvSpPr/>
            <p:nvPr/>
          </p:nvSpPr>
          <p:spPr>
            <a:xfrm>
              <a:off x="914400" y="183794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28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BE354AA-DEB9-5B1C-F75F-61743B8743C0}"/>
              </a:ext>
            </a:extLst>
          </p:cNvPr>
          <p:cNvGrpSpPr/>
          <p:nvPr/>
        </p:nvGrpSpPr>
        <p:grpSpPr>
          <a:xfrm>
            <a:off x="947572" y="3931016"/>
            <a:ext cx="320040" cy="329184"/>
            <a:chOff x="914400" y="1828800"/>
            <a:chExt cx="320040" cy="329184"/>
          </a:xfrm>
        </p:grpSpPr>
        <p:sp>
          <p:nvSpPr>
            <p:cNvPr id="90" name="Shape 8">
              <a:extLst>
                <a:ext uri="{FF2B5EF4-FFF2-40B4-BE49-F238E27FC236}">
                  <a16:creationId xmlns:a16="http://schemas.microsoft.com/office/drawing/2014/main" id="{A531FB82-F5A4-F63B-4FDF-37B588C0A02C}"/>
                </a:ext>
              </a:extLst>
            </p:cNvPr>
            <p:cNvSpPr/>
            <p:nvPr/>
          </p:nvSpPr>
          <p:spPr>
            <a:xfrm>
              <a:off x="914400" y="1828800"/>
              <a:ext cx="320040" cy="320040"/>
            </a:xfrm>
            <a:prstGeom prst="rect">
              <a:avLst/>
            </a:prstGeom>
            <a:noFill/>
            <a:ln w="25400">
              <a:solidFill>
                <a:srgbClr val="1A1A2E"/>
              </a:solidFill>
              <a:prstDash val="solid"/>
            </a:ln>
          </p:spPr>
        </p:sp>
        <p:sp>
          <p:nvSpPr>
            <p:cNvPr id="91" name="Text 9">
              <a:extLst>
                <a:ext uri="{FF2B5EF4-FFF2-40B4-BE49-F238E27FC236}">
                  <a16:creationId xmlns:a16="http://schemas.microsoft.com/office/drawing/2014/main" id="{82209923-B3B8-2037-0796-E48AB7C73E5E}"/>
                </a:ext>
              </a:extLst>
            </p:cNvPr>
            <p:cNvSpPr/>
            <p:nvPr/>
          </p:nvSpPr>
          <p:spPr>
            <a:xfrm>
              <a:off x="914400" y="183794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2800" dirty="0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296F425-1594-6366-20D4-D8654AB2D027}"/>
              </a:ext>
            </a:extLst>
          </p:cNvPr>
          <p:cNvGrpSpPr/>
          <p:nvPr/>
        </p:nvGrpSpPr>
        <p:grpSpPr>
          <a:xfrm>
            <a:off x="943000" y="4745736"/>
            <a:ext cx="320040" cy="329184"/>
            <a:chOff x="914400" y="1828800"/>
            <a:chExt cx="320040" cy="329184"/>
          </a:xfrm>
        </p:grpSpPr>
        <p:sp>
          <p:nvSpPr>
            <p:cNvPr id="111" name="Shape 8">
              <a:extLst>
                <a:ext uri="{FF2B5EF4-FFF2-40B4-BE49-F238E27FC236}">
                  <a16:creationId xmlns:a16="http://schemas.microsoft.com/office/drawing/2014/main" id="{5EDCF080-3719-10E0-74D2-DB2B03F5725E}"/>
                </a:ext>
              </a:extLst>
            </p:cNvPr>
            <p:cNvSpPr/>
            <p:nvPr/>
          </p:nvSpPr>
          <p:spPr>
            <a:xfrm>
              <a:off x="914400" y="1828800"/>
              <a:ext cx="320040" cy="320040"/>
            </a:xfrm>
            <a:prstGeom prst="rect">
              <a:avLst/>
            </a:prstGeom>
            <a:noFill/>
            <a:ln w="25400">
              <a:solidFill>
                <a:srgbClr val="1A1A2E"/>
              </a:solidFill>
              <a:prstDash val="solid"/>
            </a:ln>
          </p:spPr>
        </p:sp>
        <p:sp>
          <p:nvSpPr>
            <p:cNvPr id="112" name="Text 9">
              <a:extLst>
                <a:ext uri="{FF2B5EF4-FFF2-40B4-BE49-F238E27FC236}">
                  <a16:creationId xmlns:a16="http://schemas.microsoft.com/office/drawing/2014/main" id="{463BE082-0426-0ABE-77C5-7006525BF965}"/>
                </a:ext>
              </a:extLst>
            </p:cNvPr>
            <p:cNvSpPr/>
            <p:nvPr/>
          </p:nvSpPr>
          <p:spPr>
            <a:xfrm>
              <a:off x="914400" y="183794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280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18DD96F-E817-EB5E-0A45-788ABE7348DF}"/>
              </a:ext>
            </a:extLst>
          </p:cNvPr>
          <p:cNvGrpSpPr/>
          <p:nvPr/>
        </p:nvGrpSpPr>
        <p:grpSpPr>
          <a:xfrm>
            <a:off x="4448193" y="1087117"/>
            <a:ext cx="4030097" cy="4399320"/>
            <a:chOff x="4872736" y="1139761"/>
            <a:chExt cx="4030097" cy="4399320"/>
          </a:xfrm>
          <a:effectLst/>
        </p:grpSpPr>
        <p:pic>
          <p:nvPicPr>
            <p:cNvPr id="114" name="Graphic 113" descr="A robot with a raised arm">
              <a:extLst>
                <a:ext uri="{FF2B5EF4-FFF2-40B4-BE49-F238E27FC236}">
                  <a16:creationId xmlns:a16="http://schemas.microsoft.com/office/drawing/2014/main" id="{4A0717D4-B621-B6B3-0C88-06169852B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247640" y="1883888"/>
              <a:ext cx="3655193" cy="3655193"/>
            </a:xfrm>
            <a:prstGeom prst="rect">
              <a:avLst/>
            </a:prstGeom>
            <a:effectLst/>
          </p:spPr>
        </p:pic>
        <p:sp>
          <p:nvSpPr>
            <p:cNvPr id="119" name="Speech Bubble: Rectangle with Corners Rounded 118">
              <a:extLst>
                <a:ext uri="{FF2B5EF4-FFF2-40B4-BE49-F238E27FC236}">
                  <a16:creationId xmlns:a16="http://schemas.microsoft.com/office/drawing/2014/main" id="{FEC522A1-45B8-B2D4-A117-A237E57B375C}"/>
                </a:ext>
              </a:extLst>
            </p:cNvPr>
            <p:cNvSpPr/>
            <p:nvPr/>
          </p:nvSpPr>
          <p:spPr>
            <a:xfrm flipH="1">
              <a:off x="5567680" y="1486023"/>
              <a:ext cx="1432824" cy="959992"/>
            </a:xfrm>
            <a:prstGeom prst="wedgeRoundRectCallou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373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Checks Not Found…</a:t>
              </a:r>
            </a:p>
          </p:txBody>
        </p:sp>
        <p:sp>
          <p:nvSpPr>
            <p:cNvPr id="120" name="Speech Bubble: Rectangle with Corners Rounded 119">
              <a:extLst>
                <a:ext uri="{FF2B5EF4-FFF2-40B4-BE49-F238E27FC236}">
                  <a16:creationId xmlns:a16="http://schemas.microsoft.com/office/drawing/2014/main" id="{570C427A-25CE-31F3-A23B-9E4068C1B613}"/>
                </a:ext>
              </a:extLst>
            </p:cNvPr>
            <p:cNvSpPr/>
            <p:nvPr/>
          </p:nvSpPr>
          <p:spPr>
            <a:xfrm>
              <a:off x="4872736" y="1139761"/>
              <a:ext cx="914400" cy="612648"/>
            </a:xfrm>
            <a:prstGeom prst="wedgeRoundRectCallout">
              <a:avLst/>
            </a:prstGeom>
            <a:solidFill>
              <a:srgbClr val="73737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 404!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8969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648</Words>
  <Application>Microsoft Office PowerPoint</Application>
  <PresentationFormat>On-screen Show (16:9)</PresentationFormat>
  <Paragraphs>149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Impact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Thermoelectric Effects - Physics in Action</dc:title>
  <dc:subject>PptxGenJS Presentation</dc:subject>
  <dc:creator>Thermoelectric Effects Presentation</dc:creator>
  <cp:lastModifiedBy>Ehtesham Haque</cp:lastModifiedBy>
  <cp:revision>7</cp:revision>
  <dcterms:created xsi:type="dcterms:W3CDTF">2026-02-08T16:07:20Z</dcterms:created>
  <dcterms:modified xsi:type="dcterms:W3CDTF">2026-02-09T17:38:22Z</dcterms:modified>
</cp:coreProperties>
</file>